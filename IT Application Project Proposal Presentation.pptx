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Arial Bold" charset="1" panose="020B0704020202020204"/>
      <p:regular r:id="rId25"/>
    </p:embeddedFont>
    <p:embeddedFont>
      <p:font typeface="Arial" charset="1" panose="020B06040202020202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345709"/>
            <a:ext cx="18288000" cy="12203084"/>
          </a:xfrm>
          <a:custGeom>
            <a:avLst/>
            <a:gdLst/>
            <a:ahLst/>
            <a:cxnLst/>
            <a:rect r="r" b="b" t="t" l="l"/>
            <a:pathLst>
              <a:path h="12203084" w="18288000">
                <a:moveTo>
                  <a:pt x="0" y="0"/>
                </a:moveTo>
                <a:lnTo>
                  <a:pt x="18288000" y="0"/>
                </a:lnTo>
                <a:lnTo>
                  <a:pt x="18288000" y="12203083"/>
                </a:lnTo>
                <a:lnTo>
                  <a:pt x="0" y="122030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093768" y="3302245"/>
            <a:ext cx="14100464" cy="3973456"/>
            <a:chOff x="0" y="0"/>
            <a:chExt cx="3713702" cy="104650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13702" cy="1046507"/>
            </a:xfrm>
            <a:custGeom>
              <a:avLst/>
              <a:gdLst/>
              <a:ahLst/>
              <a:cxnLst/>
              <a:rect r="r" b="b" t="t" l="l"/>
              <a:pathLst>
                <a:path h="1046507" w="3713702">
                  <a:moveTo>
                    <a:pt x="28002" y="0"/>
                  </a:moveTo>
                  <a:lnTo>
                    <a:pt x="3685701" y="0"/>
                  </a:lnTo>
                  <a:cubicBezTo>
                    <a:pt x="3693127" y="0"/>
                    <a:pt x="3700249" y="2950"/>
                    <a:pt x="3705501" y="8202"/>
                  </a:cubicBezTo>
                  <a:cubicBezTo>
                    <a:pt x="3710752" y="13453"/>
                    <a:pt x="3713702" y="20575"/>
                    <a:pt x="3713702" y="28002"/>
                  </a:cubicBezTo>
                  <a:lnTo>
                    <a:pt x="3713702" y="1018505"/>
                  </a:lnTo>
                  <a:cubicBezTo>
                    <a:pt x="3713702" y="1033970"/>
                    <a:pt x="3701166" y="1046507"/>
                    <a:pt x="3685701" y="1046507"/>
                  </a:cubicBezTo>
                  <a:lnTo>
                    <a:pt x="28002" y="1046507"/>
                  </a:lnTo>
                  <a:cubicBezTo>
                    <a:pt x="12537" y="1046507"/>
                    <a:pt x="0" y="1033970"/>
                    <a:pt x="0" y="1018505"/>
                  </a:cubicBezTo>
                  <a:lnTo>
                    <a:pt x="0" y="28002"/>
                  </a:lnTo>
                  <a:cubicBezTo>
                    <a:pt x="0" y="12537"/>
                    <a:pt x="12537" y="0"/>
                    <a:pt x="28002" y="0"/>
                  </a:cubicBezTo>
                  <a:close/>
                </a:path>
              </a:pathLst>
            </a:custGeom>
            <a:solidFill>
              <a:srgbClr val="D9D9D9">
                <a:alpha val="8000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713702" cy="10846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351548" y="4244340"/>
            <a:ext cx="9584903" cy="899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39"/>
              </a:lnSpc>
              <a:spcBef>
                <a:spcPct val="0"/>
              </a:spcBef>
            </a:pPr>
            <a:r>
              <a:rPr lang="en-US" b="true" sz="51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IT Application Project Proposal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549503" y="5593678"/>
            <a:ext cx="11188993" cy="827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8"/>
              </a:lnSpc>
            </a:pPr>
            <a:r>
              <a:rPr lang="en-US" sz="23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 Kayden Zachariah Tan Kai De, Lee Zheng Bo, </a:t>
            </a:r>
          </a:p>
          <a:p>
            <a:pPr algn="ctr">
              <a:lnSpc>
                <a:spcPts val="3298"/>
              </a:lnSpc>
              <a:spcBef>
                <a:spcPct val="0"/>
              </a:spcBef>
            </a:pPr>
            <a:r>
              <a:rPr lang="en-US" sz="23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Cheam Zhi Yi Chia Jin Lei, Jeremy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843065"/>
            <a:chOff x="0" y="0"/>
            <a:chExt cx="4816593" cy="4854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85416"/>
            </a:xfrm>
            <a:custGeom>
              <a:avLst/>
              <a:gdLst/>
              <a:ahLst/>
              <a:cxnLst/>
              <a:rect r="r" b="b" t="t" l="l"/>
              <a:pathLst>
                <a:path h="48541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85416"/>
                  </a:lnTo>
                  <a:lnTo>
                    <a:pt x="0" y="485416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5235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449617" y="2213955"/>
            <a:ext cx="8473270" cy="5653982"/>
          </a:xfrm>
          <a:custGeom>
            <a:avLst/>
            <a:gdLst/>
            <a:ahLst/>
            <a:cxnLst/>
            <a:rect r="r" b="b" t="t" l="l"/>
            <a:pathLst>
              <a:path h="5653982" w="8473270">
                <a:moveTo>
                  <a:pt x="0" y="0"/>
                </a:moveTo>
                <a:lnTo>
                  <a:pt x="8473270" y="0"/>
                </a:lnTo>
                <a:lnTo>
                  <a:pt x="8473270" y="5653982"/>
                </a:lnTo>
                <a:lnTo>
                  <a:pt x="0" y="56539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83327" y="418295"/>
            <a:ext cx="7549753" cy="882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Company, Context &amp; Aim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5578" y="2412623"/>
            <a:ext cx="8690395" cy="562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Company: LEGO Bricks Pte Ltd.</a:t>
            </a:r>
          </a:p>
          <a:p>
            <a:pPr algn="l">
              <a:lnSpc>
                <a:spcPts val="5599"/>
              </a:lnSpc>
            </a:pPr>
          </a:p>
          <a:p>
            <a:pPr algn="just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Construction Company based in Singapore and has been in service for up to 2 years</a:t>
            </a:r>
          </a:p>
          <a:p>
            <a:pPr algn="just">
              <a:lnSpc>
                <a:spcPts val="5599"/>
              </a:lnSpc>
            </a:pPr>
          </a:p>
          <a:p>
            <a:pPr algn="just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They help in the construction of government contracts and projects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843065"/>
            <a:chOff x="0" y="0"/>
            <a:chExt cx="4816593" cy="4854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85416"/>
            </a:xfrm>
            <a:custGeom>
              <a:avLst/>
              <a:gdLst/>
              <a:ahLst/>
              <a:cxnLst/>
              <a:rect r="r" b="b" t="t" l="l"/>
              <a:pathLst>
                <a:path h="48541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85416"/>
                  </a:lnTo>
                  <a:lnTo>
                    <a:pt x="0" y="485416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5235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556184" y="2213955"/>
            <a:ext cx="8310574" cy="5545419"/>
          </a:xfrm>
          <a:custGeom>
            <a:avLst/>
            <a:gdLst/>
            <a:ahLst/>
            <a:cxnLst/>
            <a:rect r="r" b="b" t="t" l="l"/>
            <a:pathLst>
              <a:path h="5545419" w="8310574">
                <a:moveTo>
                  <a:pt x="0" y="0"/>
                </a:moveTo>
                <a:lnTo>
                  <a:pt x="8310574" y="0"/>
                </a:lnTo>
                <a:lnTo>
                  <a:pt x="8310574" y="5545419"/>
                </a:lnTo>
                <a:lnTo>
                  <a:pt x="0" y="55454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83327" y="418295"/>
            <a:ext cx="7549753" cy="882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Company, Context &amp; Aim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53605" y="2128230"/>
            <a:ext cx="8690395" cy="562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However, Controversies have sparked in the company whereby construction wastes were not disposed and recycled properly.</a:t>
            </a:r>
          </a:p>
          <a:p>
            <a:pPr algn="l">
              <a:lnSpc>
                <a:spcPts val="5599"/>
              </a:lnSpc>
            </a:pP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led to criticisms and officials made it mandatory for the company to improve or actions will be taken.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843065"/>
            <a:chOff x="0" y="0"/>
            <a:chExt cx="4816593" cy="4854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85416"/>
            </a:xfrm>
            <a:custGeom>
              <a:avLst/>
              <a:gdLst/>
              <a:ahLst/>
              <a:cxnLst/>
              <a:rect r="r" b="b" t="t" l="l"/>
              <a:pathLst>
                <a:path h="48541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85416"/>
                  </a:lnTo>
                  <a:lnTo>
                    <a:pt x="0" y="485416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5235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198927" y="2363780"/>
            <a:ext cx="4882115" cy="3257702"/>
          </a:xfrm>
          <a:custGeom>
            <a:avLst/>
            <a:gdLst/>
            <a:ahLst/>
            <a:cxnLst/>
            <a:rect r="r" b="b" t="t" l="l"/>
            <a:pathLst>
              <a:path h="3257702" w="4882115">
                <a:moveTo>
                  <a:pt x="0" y="0"/>
                </a:moveTo>
                <a:lnTo>
                  <a:pt x="4882115" y="0"/>
                </a:lnTo>
                <a:lnTo>
                  <a:pt x="4882115" y="3257702"/>
                </a:lnTo>
                <a:lnTo>
                  <a:pt x="0" y="32577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721678" y="4221231"/>
            <a:ext cx="3373362" cy="5055447"/>
          </a:xfrm>
          <a:custGeom>
            <a:avLst/>
            <a:gdLst/>
            <a:ahLst/>
            <a:cxnLst/>
            <a:rect r="r" b="b" t="t" l="l"/>
            <a:pathLst>
              <a:path h="5055447" w="3373362">
                <a:moveTo>
                  <a:pt x="0" y="0"/>
                </a:moveTo>
                <a:lnTo>
                  <a:pt x="3373361" y="0"/>
                </a:lnTo>
                <a:lnTo>
                  <a:pt x="3373361" y="5055446"/>
                </a:lnTo>
                <a:lnTo>
                  <a:pt x="0" y="50554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83327" y="418295"/>
            <a:ext cx="7549753" cy="882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Company, Context &amp; Aim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53605" y="2128230"/>
            <a:ext cx="8690395" cy="562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Our Aim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create a Company Gaming Educational Application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Teach Workers about sustainability and proper waste disposal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Form more experienced and prepare employees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4037" y="0"/>
            <a:ext cx="18288000" cy="1843065"/>
            <a:chOff x="0" y="0"/>
            <a:chExt cx="4816593" cy="4854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85416"/>
            </a:xfrm>
            <a:custGeom>
              <a:avLst/>
              <a:gdLst/>
              <a:ahLst/>
              <a:cxnLst/>
              <a:rect r="r" b="b" t="t" l="l"/>
              <a:pathLst>
                <a:path h="48541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85416"/>
                  </a:lnTo>
                  <a:lnTo>
                    <a:pt x="0" y="485416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5235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94779" y="2066117"/>
            <a:ext cx="14800923" cy="7865929"/>
          </a:xfrm>
          <a:custGeom>
            <a:avLst/>
            <a:gdLst/>
            <a:ahLst/>
            <a:cxnLst/>
            <a:rect r="r" b="b" t="t" l="l"/>
            <a:pathLst>
              <a:path h="7865929" w="14800923">
                <a:moveTo>
                  <a:pt x="0" y="0"/>
                </a:moveTo>
                <a:lnTo>
                  <a:pt x="14800924" y="0"/>
                </a:lnTo>
                <a:lnTo>
                  <a:pt x="14800924" y="7865929"/>
                </a:lnTo>
                <a:lnTo>
                  <a:pt x="0" y="78659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04" r="0" b="-804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0" y="321458"/>
            <a:ext cx="16295703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Schedule/Timeline Gantt Chart (Tentative)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4037" y="0"/>
            <a:ext cx="18288000" cy="1843065"/>
            <a:chOff x="0" y="0"/>
            <a:chExt cx="4816593" cy="4854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85416"/>
            </a:xfrm>
            <a:custGeom>
              <a:avLst/>
              <a:gdLst/>
              <a:ahLst/>
              <a:cxnLst/>
              <a:rect r="r" b="b" t="t" l="l"/>
              <a:pathLst>
                <a:path h="48541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85416"/>
                  </a:lnTo>
                  <a:lnTo>
                    <a:pt x="0" y="485416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5235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483013" y="3188825"/>
            <a:ext cx="7776287" cy="5654242"/>
          </a:xfrm>
          <a:custGeom>
            <a:avLst/>
            <a:gdLst/>
            <a:ahLst/>
            <a:cxnLst/>
            <a:rect r="r" b="b" t="t" l="l"/>
            <a:pathLst>
              <a:path h="5654242" w="7776287">
                <a:moveTo>
                  <a:pt x="0" y="0"/>
                </a:moveTo>
                <a:lnTo>
                  <a:pt x="7776287" y="0"/>
                </a:lnTo>
                <a:lnTo>
                  <a:pt x="7776287" y="5654242"/>
                </a:lnTo>
                <a:lnTo>
                  <a:pt x="0" y="56542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7" r="0" b="-3583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13335" y="2864188"/>
            <a:ext cx="8930665" cy="562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Navigation Menu for users to navigate the site</a:t>
            </a:r>
          </a:p>
          <a:p>
            <a:pPr algn="l">
              <a:lnSpc>
                <a:spcPts val="5599"/>
              </a:lnSpc>
            </a:pP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Users can also access the Feedback Form in the menu to provide their feedback </a:t>
            </a:r>
          </a:p>
          <a:p>
            <a:pPr algn="l">
              <a:lnSpc>
                <a:spcPts val="5599"/>
              </a:lnSpc>
            </a:pPr>
          </a:p>
          <a:p>
            <a:pPr algn="l">
              <a:lnSpc>
                <a:spcPts val="559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21458"/>
            <a:ext cx="3895626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Homepage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4037" y="0"/>
            <a:ext cx="18288000" cy="1843065"/>
            <a:chOff x="0" y="0"/>
            <a:chExt cx="4816593" cy="4854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85416"/>
            </a:xfrm>
            <a:custGeom>
              <a:avLst/>
              <a:gdLst/>
              <a:ahLst/>
              <a:cxnLst/>
              <a:rect r="r" b="b" t="t" l="l"/>
              <a:pathLst>
                <a:path h="48541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85416"/>
                  </a:lnTo>
                  <a:lnTo>
                    <a:pt x="0" y="485416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5235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483013" y="3188825"/>
            <a:ext cx="7776287" cy="5654242"/>
          </a:xfrm>
          <a:custGeom>
            <a:avLst/>
            <a:gdLst/>
            <a:ahLst/>
            <a:cxnLst/>
            <a:rect r="r" b="b" t="t" l="l"/>
            <a:pathLst>
              <a:path h="5654242" w="7776287">
                <a:moveTo>
                  <a:pt x="0" y="0"/>
                </a:moveTo>
                <a:lnTo>
                  <a:pt x="7776287" y="0"/>
                </a:lnTo>
                <a:lnTo>
                  <a:pt x="7776287" y="5654242"/>
                </a:lnTo>
                <a:lnTo>
                  <a:pt x="0" y="56542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7" r="0" b="-3583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13335" y="2108937"/>
            <a:ext cx="8930665" cy="632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Profile button to access a worker’s profile or to sign out</a:t>
            </a:r>
          </a:p>
          <a:p>
            <a:pPr algn="l">
              <a:lnSpc>
                <a:spcPts val="5599"/>
              </a:lnSpc>
            </a:pP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Company logo, which can also be clicked to access a pop-up</a:t>
            </a:r>
          </a:p>
          <a:p>
            <a:pPr algn="l">
              <a:lnSpc>
                <a:spcPts val="5599"/>
              </a:lnSpc>
            </a:pP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Announcement system with pop-ups to remind users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21458"/>
            <a:ext cx="3895626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Homepage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324598" y="2641918"/>
            <a:ext cx="8530247" cy="5974152"/>
          </a:xfrm>
          <a:custGeom>
            <a:avLst/>
            <a:gdLst/>
            <a:ahLst/>
            <a:cxnLst/>
            <a:rect r="r" b="b" t="t" l="l"/>
            <a:pathLst>
              <a:path h="5974152" w="8530247">
                <a:moveTo>
                  <a:pt x="0" y="0"/>
                </a:moveTo>
                <a:lnTo>
                  <a:pt x="8530247" y="0"/>
                </a:lnTo>
                <a:lnTo>
                  <a:pt x="8530247" y="5974153"/>
                </a:lnTo>
                <a:lnTo>
                  <a:pt x="0" y="59741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62" r="0" b="-667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3335" y="2556193"/>
            <a:ext cx="8930665" cy="3508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One of the pop-ups that display the values and history of the company after the user clicks on the navigation menu or the company logo. 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0" y="0"/>
            <a:ext cx="18288000" cy="1843065"/>
            <a:chOff x="0" y="0"/>
            <a:chExt cx="4816593" cy="48541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485416"/>
            </a:xfrm>
            <a:custGeom>
              <a:avLst/>
              <a:gdLst/>
              <a:ahLst/>
              <a:cxnLst/>
              <a:rect r="r" b="b" t="t" l="l"/>
              <a:pathLst>
                <a:path h="48541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85416"/>
                  </a:lnTo>
                  <a:lnTo>
                    <a:pt x="0" y="485416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816593" cy="5235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28700" y="321458"/>
            <a:ext cx="3895626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Homepage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843065"/>
            <a:chOff x="0" y="0"/>
            <a:chExt cx="4816593" cy="4854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85416"/>
            </a:xfrm>
            <a:custGeom>
              <a:avLst/>
              <a:gdLst/>
              <a:ahLst/>
              <a:cxnLst/>
              <a:rect r="r" b="b" t="t" l="l"/>
              <a:pathLst>
                <a:path h="48541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85416"/>
                  </a:lnTo>
                  <a:lnTo>
                    <a:pt x="0" y="485416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5235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974638" y="2978258"/>
            <a:ext cx="7766350" cy="5840987"/>
          </a:xfrm>
          <a:custGeom>
            <a:avLst/>
            <a:gdLst/>
            <a:ahLst/>
            <a:cxnLst/>
            <a:rect r="r" b="b" t="t" l="l"/>
            <a:pathLst>
              <a:path h="5840987" w="7766350">
                <a:moveTo>
                  <a:pt x="0" y="0"/>
                </a:moveTo>
                <a:lnTo>
                  <a:pt x="7766350" y="0"/>
                </a:lnTo>
                <a:lnTo>
                  <a:pt x="7766350" y="5840987"/>
                </a:lnTo>
                <a:lnTo>
                  <a:pt x="0" y="58409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13335" y="2556193"/>
            <a:ext cx="8930665" cy="280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One of the pop-ups that displays an announcement, which informs the user that he/she needs to complete the game by a certain date.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21458"/>
            <a:ext cx="3895626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Homepage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796497" y="2650494"/>
            <a:ext cx="7462803" cy="5613964"/>
          </a:xfrm>
          <a:custGeom>
            <a:avLst/>
            <a:gdLst/>
            <a:ahLst/>
            <a:cxnLst/>
            <a:rect r="r" b="b" t="t" l="l"/>
            <a:pathLst>
              <a:path h="5613964" w="7462803">
                <a:moveTo>
                  <a:pt x="0" y="0"/>
                </a:moveTo>
                <a:lnTo>
                  <a:pt x="7462803" y="0"/>
                </a:lnTo>
                <a:lnTo>
                  <a:pt x="7462803" y="5613964"/>
                </a:lnTo>
                <a:lnTo>
                  <a:pt x="0" y="56139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843065"/>
            <a:chOff x="0" y="0"/>
            <a:chExt cx="4816593" cy="48541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485416"/>
            </a:xfrm>
            <a:custGeom>
              <a:avLst/>
              <a:gdLst/>
              <a:ahLst/>
              <a:cxnLst/>
              <a:rect r="r" b="b" t="t" l="l"/>
              <a:pathLst>
                <a:path h="48541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85416"/>
                  </a:lnTo>
                  <a:lnTo>
                    <a:pt x="0" y="485416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5235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265895"/>
            <a:ext cx="2568773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0"/>
              </a:lnSpc>
              <a:spcBef>
                <a:spcPct val="0"/>
              </a:spcBef>
            </a:pPr>
            <a:r>
              <a:rPr lang="en-US" b="true" sz="65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Profile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3335" y="2431419"/>
            <a:ext cx="8930665" cy="436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69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Log-In and Sign-Up page</a:t>
            </a:r>
          </a:p>
          <a:p>
            <a:pPr algn="l" marL="863599" indent="-431800" lvl="1">
              <a:lnSpc>
                <a:spcPts val="69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Required action to access games</a:t>
            </a:r>
          </a:p>
          <a:p>
            <a:pPr algn="l" marL="863599" indent="-431800" lvl="1">
              <a:lnSpc>
                <a:spcPts val="69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 or enter an account</a:t>
            </a:r>
          </a:p>
          <a:p>
            <a:pPr algn="l" marL="863599" indent="-431800" lvl="1">
              <a:lnSpc>
                <a:spcPts val="69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Employee’s quality check</a:t>
            </a:r>
          </a:p>
          <a:p>
            <a:pPr algn="l" marL="863599" indent="-431800" lvl="1">
              <a:lnSpc>
                <a:spcPts val="69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Ensure users are ready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796497" y="2625725"/>
            <a:ext cx="7462803" cy="5578445"/>
          </a:xfrm>
          <a:custGeom>
            <a:avLst/>
            <a:gdLst/>
            <a:ahLst/>
            <a:cxnLst/>
            <a:rect r="r" b="b" t="t" l="l"/>
            <a:pathLst>
              <a:path h="5578445" w="7462803">
                <a:moveTo>
                  <a:pt x="0" y="0"/>
                </a:moveTo>
                <a:lnTo>
                  <a:pt x="7462803" y="0"/>
                </a:lnTo>
                <a:lnTo>
                  <a:pt x="7462803" y="5578445"/>
                </a:lnTo>
                <a:lnTo>
                  <a:pt x="0" y="55784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3335" y="2501900"/>
            <a:ext cx="8930665" cy="448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9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Log-in account</a:t>
            </a:r>
          </a:p>
          <a:p>
            <a:pPr algn="l" marL="863599" indent="-431800" lvl="1">
              <a:lnSpc>
                <a:spcPts val="59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Must enter matching user and password</a:t>
            </a:r>
          </a:p>
          <a:p>
            <a:pPr algn="l" marL="863599" indent="-431800" lvl="1">
              <a:lnSpc>
                <a:spcPts val="59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Security for accounts to prevent grade impacts made by wrong individuals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0" y="0"/>
            <a:ext cx="18288000" cy="1843065"/>
            <a:chOff x="0" y="0"/>
            <a:chExt cx="4816593" cy="48541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485416"/>
            </a:xfrm>
            <a:custGeom>
              <a:avLst/>
              <a:gdLst/>
              <a:ahLst/>
              <a:cxnLst/>
              <a:rect r="r" b="b" t="t" l="l"/>
              <a:pathLst>
                <a:path h="48541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85416"/>
                  </a:lnTo>
                  <a:lnTo>
                    <a:pt x="0" y="485416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816593" cy="5235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28700" y="265895"/>
            <a:ext cx="2568773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0"/>
              </a:lnSpc>
              <a:spcBef>
                <a:spcPct val="0"/>
              </a:spcBef>
            </a:pPr>
            <a:r>
              <a:rPr lang="en-US" b="true" sz="65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Profile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24758" y="2181055"/>
            <a:ext cx="9638483" cy="7191987"/>
          </a:xfrm>
          <a:custGeom>
            <a:avLst/>
            <a:gdLst/>
            <a:ahLst/>
            <a:cxnLst/>
            <a:rect r="r" b="b" t="t" l="l"/>
            <a:pathLst>
              <a:path h="7191987" w="9638483">
                <a:moveTo>
                  <a:pt x="0" y="0"/>
                </a:moveTo>
                <a:lnTo>
                  <a:pt x="9638484" y="0"/>
                </a:lnTo>
                <a:lnTo>
                  <a:pt x="9638484" y="7191987"/>
                </a:lnTo>
                <a:lnTo>
                  <a:pt x="0" y="71919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703275" y="5654005"/>
            <a:ext cx="2881450" cy="1540266"/>
          </a:xfrm>
          <a:custGeom>
            <a:avLst/>
            <a:gdLst/>
            <a:ahLst/>
            <a:cxnLst/>
            <a:rect r="r" b="b" t="t" l="l"/>
            <a:pathLst>
              <a:path h="1540266" w="2881450">
                <a:moveTo>
                  <a:pt x="0" y="0"/>
                </a:moveTo>
                <a:lnTo>
                  <a:pt x="2881450" y="0"/>
                </a:lnTo>
                <a:lnTo>
                  <a:pt x="2881450" y="1540267"/>
                </a:lnTo>
                <a:lnTo>
                  <a:pt x="0" y="15402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0"/>
            <a:ext cx="18288000" cy="1843065"/>
            <a:chOff x="0" y="0"/>
            <a:chExt cx="4816593" cy="48541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485416"/>
            </a:xfrm>
            <a:custGeom>
              <a:avLst/>
              <a:gdLst/>
              <a:ahLst/>
              <a:cxnLst/>
              <a:rect r="r" b="b" t="t" l="l"/>
              <a:pathLst>
                <a:path h="48541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85416"/>
                  </a:lnTo>
                  <a:lnTo>
                    <a:pt x="0" y="485416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816593" cy="5235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28700" y="265895"/>
            <a:ext cx="2568773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0"/>
              </a:lnSpc>
              <a:spcBef>
                <a:spcPct val="0"/>
              </a:spcBef>
            </a:pPr>
            <a:r>
              <a:rPr lang="en-US" b="true" sz="65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Profile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829186" y="2698750"/>
            <a:ext cx="7430114" cy="5578445"/>
          </a:xfrm>
          <a:custGeom>
            <a:avLst/>
            <a:gdLst/>
            <a:ahLst/>
            <a:cxnLst/>
            <a:rect r="r" b="b" t="t" l="l"/>
            <a:pathLst>
              <a:path h="5578445" w="7430114">
                <a:moveTo>
                  <a:pt x="0" y="0"/>
                </a:moveTo>
                <a:lnTo>
                  <a:pt x="7430114" y="0"/>
                </a:lnTo>
                <a:lnTo>
                  <a:pt x="7430114" y="5578445"/>
                </a:lnTo>
                <a:lnTo>
                  <a:pt x="0" y="55784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3335" y="2498725"/>
            <a:ext cx="8930665" cy="5089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6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Viewable Account statuses</a:t>
            </a:r>
          </a:p>
          <a:p>
            <a:pPr algn="l" marL="863599" indent="-431800" lvl="1">
              <a:lnSpc>
                <a:spcPts val="6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Current User</a:t>
            </a:r>
          </a:p>
          <a:p>
            <a:pPr algn="l" marL="863599" indent="-431800" lvl="1">
              <a:lnSpc>
                <a:spcPts val="6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Job Role</a:t>
            </a:r>
          </a:p>
          <a:p>
            <a:pPr algn="l" marL="863599" indent="-431800" lvl="1">
              <a:lnSpc>
                <a:spcPts val="6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Scores can be earned from games</a:t>
            </a:r>
          </a:p>
          <a:p>
            <a:pPr algn="l" marL="863599" indent="-431800" lvl="1">
              <a:lnSpc>
                <a:spcPts val="6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Grading = Score Earned/Max Score</a:t>
            </a:r>
          </a:p>
          <a:p>
            <a:pPr algn="l" marL="863599" indent="-431800" lvl="1">
              <a:lnSpc>
                <a:spcPts val="6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Higher Grade = More Ready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0" y="0"/>
            <a:ext cx="18288000" cy="1843065"/>
            <a:chOff x="0" y="0"/>
            <a:chExt cx="4816593" cy="48541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485416"/>
            </a:xfrm>
            <a:custGeom>
              <a:avLst/>
              <a:gdLst/>
              <a:ahLst/>
              <a:cxnLst/>
              <a:rect r="r" b="b" t="t" l="l"/>
              <a:pathLst>
                <a:path h="48541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85416"/>
                  </a:lnTo>
                  <a:lnTo>
                    <a:pt x="0" y="485416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816593" cy="5235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28700" y="265895"/>
            <a:ext cx="2568773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0"/>
              </a:lnSpc>
              <a:spcBef>
                <a:spcPct val="0"/>
              </a:spcBef>
            </a:pPr>
            <a:r>
              <a:rPr lang="en-US" b="true" sz="65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Profile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843065"/>
            <a:chOff x="0" y="0"/>
            <a:chExt cx="4816593" cy="4854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85416"/>
            </a:xfrm>
            <a:custGeom>
              <a:avLst/>
              <a:gdLst/>
              <a:ahLst/>
              <a:cxnLst/>
              <a:rect r="r" b="b" t="t" l="l"/>
              <a:pathLst>
                <a:path h="48541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85416"/>
                  </a:lnTo>
                  <a:lnTo>
                    <a:pt x="0" y="485416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5235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265895"/>
            <a:ext cx="2294334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0"/>
              </a:lnSpc>
              <a:spcBef>
                <a:spcPct val="0"/>
              </a:spcBef>
            </a:pPr>
            <a:r>
              <a:rPr lang="en-US" b="true" sz="65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Game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8320205" y="2374098"/>
            <a:ext cx="9792962" cy="7776764"/>
          </a:xfrm>
          <a:custGeom>
            <a:avLst/>
            <a:gdLst/>
            <a:ahLst/>
            <a:cxnLst/>
            <a:rect r="r" b="b" t="t" l="l"/>
            <a:pathLst>
              <a:path h="7776764" w="9792962">
                <a:moveTo>
                  <a:pt x="0" y="0"/>
                </a:moveTo>
                <a:lnTo>
                  <a:pt x="9792962" y="0"/>
                </a:lnTo>
                <a:lnTo>
                  <a:pt x="9792962" y="7776765"/>
                </a:lnTo>
                <a:lnTo>
                  <a:pt x="0" y="77767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13335" y="2498725"/>
            <a:ext cx="7771845" cy="594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6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form of educational entertainment</a:t>
            </a:r>
          </a:p>
          <a:p>
            <a:pPr algn="l" marL="863599" indent="-431800" lvl="1">
              <a:lnSpc>
                <a:spcPts val="6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Game instruction (important for users to know how to play) </a:t>
            </a:r>
          </a:p>
          <a:p>
            <a:pPr algn="l" marL="863599" indent="-431800" lvl="1">
              <a:lnSpc>
                <a:spcPts val="6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ame rules (How to score points)</a:t>
            </a:r>
          </a:p>
          <a:p>
            <a:pPr algn="l">
              <a:lnSpc>
                <a:spcPts val="6799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843065"/>
            <a:chOff x="0" y="0"/>
            <a:chExt cx="4816593" cy="4854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85416"/>
            </a:xfrm>
            <a:custGeom>
              <a:avLst/>
              <a:gdLst/>
              <a:ahLst/>
              <a:cxnLst/>
              <a:rect r="r" b="b" t="t" l="l"/>
              <a:pathLst>
                <a:path h="48541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85416"/>
                  </a:lnTo>
                  <a:lnTo>
                    <a:pt x="0" y="485416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5235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170139" y="2509549"/>
            <a:ext cx="9542551" cy="7373185"/>
          </a:xfrm>
          <a:custGeom>
            <a:avLst/>
            <a:gdLst/>
            <a:ahLst/>
            <a:cxnLst/>
            <a:rect r="r" b="b" t="t" l="l"/>
            <a:pathLst>
              <a:path h="7373185" w="9542551">
                <a:moveTo>
                  <a:pt x="0" y="0"/>
                </a:moveTo>
                <a:lnTo>
                  <a:pt x="9542551" y="0"/>
                </a:lnTo>
                <a:lnTo>
                  <a:pt x="9542551" y="7373185"/>
                </a:lnTo>
                <a:lnTo>
                  <a:pt x="0" y="73731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265895"/>
            <a:ext cx="2294334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0"/>
              </a:lnSpc>
              <a:spcBef>
                <a:spcPct val="0"/>
              </a:spcBef>
            </a:pPr>
            <a:r>
              <a:rPr lang="en-US" b="true" sz="65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Game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0" y="2606795"/>
            <a:ext cx="8170139" cy="562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63596" indent="-431798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Game (Users way of learning) </a:t>
            </a:r>
          </a:p>
          <a:p>
            <a:pPr algn="just">
              <a:lnSpc>
                <a:spcPts val="5599"/>
              </a:lnSpc>
            </a:pPr>
          </a:p>
          <a:p>
            <a:pPr algn="just" marL="863596" indent="-431798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Score System (Grading system of how well they did)</a:t>
            </a:r>
          </a:p>
          <a:p>
            <a:pPr algn="just">
              <a:lnSpc>
                <a:spcPts val="5599"/>
              </a:lnSpc>
            </a:pPr>
          </a:p>
          <a:p>
            <a:pPr algn="l" marL="863596" indent="-431798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 </a:t>
            </a: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challenges (Gain player interaction)</a:t>
            </a:r>
          </a:p>
          <a:p>
            <a:pPr algn="just">
              <a:lnSpc>
                <a:spcPts val="5599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843065"/>
            <a:chOff x="0" y="0"/>
            <a:chExt cx="4816593" cy="4854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85416"/>
            </a:xfrm>
            <a:custGeom>
              <a:avLst/>
              <a:gdLst/>
              <a:ahLst/>
              <a:cxnLst/>
              <a:rect r="r" b="b" t="t" l="l"/>
              <a:pathLst>
                <a:path h="48541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85416"/>
                  </a:lnTo>
                  <a:lnTo>
                    <a:pt x="0" y="485416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5235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10721" y="2901342"/>
            <a:ext cx="5959648" cy="6356958"/>
          </a:xfrm>
          <a:custGeom>
            <a:avLst/>
            <a:gdLst/>
            <a:ahLst/>
            <a:cxnLst/>
            <a:rect r="r" b="b" t="t" l="l"/>
            <a:pathLst>
              <a:path h="6356958" w="5959648">
                <a:moveTo>
                  <a:pt x="0" y="0"/>
                </a:moveTo>
                <a:lnTo>
                  <a:pt x="5959648" y="0"/>
                </a:lnTo>
                <a:lnTo>
                  <a:pt x="595964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265895"/>
            <a:ext cx="3808095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0"/>
              </a:lnSpc>
              <a:spcBef>
                <a:spcPct val="0"/>
              </a:spcBef>
            </a:pPr>
            <a:r>
              <a:rPr lang="en-US" b="true" sz="65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Feedback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42811" y="7477436"/>
            <a:ext cx="8930665" cy="139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Questions regarding game functionality and user experience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42811" y="4305972"/>
            <a:ext cx="8930665" cy="139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Give us ideas on how we can improve the game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42811" y="6245536"/>
            <a:ext cx="8930665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Accessible via the homepage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42811" y="3071257"/>
            <a:ext cx="8930665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Collects valuable user feedback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843065"/>
            <a:chOff x="0" y="0"/>
            <a:chExt cx="4816593" cy="4854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85416"/>
            </a:xfrm>
            <a:custGeom>
              <a:avLst/>
              <a:gdLst/>
              <a:ahLst/>
              <a:cxnLst/>
              <a:rect r="r" b="b" t="t" l="l"/>
              <a:pathLst>
                <a:path h="48541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85416"/>
                  </a:lnTo>
                  <a:lnTo>
                    <a:pt x="0" y="485416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5235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27695" y="2901342"/>
            <a:ext cx="5942674" cy="6333961"/>
          </a:xfrm>
          <a:custGeom>
            <a:avLst/>
            <a:gdLst/>
            <a:ahLst/>
            <a:cxnLst/>
            <a:rect r="r" b="b" t="t" l="l"/>
            <a:pathLst>
              <a:path h="6333961" w="5942674">
                <a:moveTo>
                  <a:pt x="0" y="0"/>
                </a:moveTo>
                <a:lnTo>
                  <a:pt x="5942674" y="0"/>
                </a:lnTo>
                <a:lnTo>
                  <a:pt x="5942674" y="6333961"/>
                </a:lnTo>
                <a:lnTo>
                  <a:pt x="0" y="63339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265895"/>
            <a:ext cx="3808095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0"/>
              </a:lnSpc>
              <a:spcBef>
                <a:spcPct val="0"/>
              </a:spcBef>
            </a:pPr>
            <a:r>
              <a:rPr lang="en-US" b="true" sz="65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Feedback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42811" y="7477436"/>
            <a:ext cx="8930665" cy="139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Questions regarding game functionality and user experience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42811" y="4305972"/>
            <a:ext cx="8930665" cy="139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Give us ideas on how we can improve the game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42811" y="6245536"/>
            <a:ext cx="8930665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Accessible via the homepage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42811" y="3071257"/>
            <a:ext cx="8930665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Collects valuable user feedback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843065"/>
            <a:chOff x="0" y="0"/>
            <a:chExt cx="4816593" cy="4854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85416"/>
            </a:xfrm>
            <a:custGeom>
              <a:avLst/>
              <a:gdLst/>
              <a:ahLst/>
              <a:cxnLst/>
              <a:rect r="r" b="b" t="t" l="l"/>
              <a:pathLst>
                <a:path h="48541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85416"/>
                  </a:lnTo>
                  <a:lnTo>
                    <a:pt x="0" y="485416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5235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27695" y="2901342"/>
            <a:ext cx="5925700" cy="6315870"/>
          </a:xfrm>
          <a:custGeom>
            <a:avLst/>
            <a:gdLst/>
            <a:ahLst/>
            <a:cxnLst/>
            <a:rect r="r" b="b" t="t" l="l"/>
            <a:pathLst>
              <a:path h="6315870" w="5925700">
                <a:moveTo>
                  <a:pt x="0" y="0"/>
                </a:moveTo>
                <a:lnTo>
                  <a:pt x="5925700" y="0"/>
                </a:lnTo>
                <a:lnTo>
                  <a:pt x="5925700" y="6315870"/>
                </a:lnTo>
                <a:lnTo>
                  <a:pt x="0" y="63158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265895"/>
            <a:ext cx="3808095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0"/>
              </a:lnSpc>
              <a:spcBef>
                <a:spcPct val="0"/>
              </a:spcBef>
            </a:pPr>
            <a:r>
              <a:rPr lang="en-US" b="true" sz="65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Feedback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42811" y="7477436"/>
            <a:ext cx="8930665" cy="139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Questions regarding game functionality and user experience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42811" y="4305972"/>
            <a:ext cx="8930665" cy="139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Give us ideas on how we can improve the game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42811" y="6245536"/>
            <a:ext cx="8930665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Accessible via the homepage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42811" y="3071257"/>
            <a:ext cx="8930665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Collects valuable user feedback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07472" y="4411165"/>
            <a:ext cx="8273056" cy="1293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83"/>
              </a:lnSpc>
              <a:spcBef>
                <a:spcPct val="0"/>
              </a:spcBef>
            </a:pPr>
            <a:r>
              <a:rPr lang="en-US" sz="741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End of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DAG6nghpdAY</dc:identifier>
  <dcterms:modified xsi:type="dcterms:W3CDTF">2011-08-01T06:04:30Z</dcterms:modified>
  <cp:revision>1</cp:revision>
  <dc:title>IT Application Project Proposal Presentation</dc:title>
</cp:coreProperties>
</file>